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60" r:id="rId19"/>
    <p:sldId id="261" r:id="rId20"/>
    <p:sldId id="262" r:id="rId21"/>
    <p:sldId id="263" r:id="rId22"/>
    <p:sldId id="264" r:id="rId23"/>
    <p:sldId id="283" r:id="rId24"/>
    <p:sldId id="284" r:id="rId25"/>
    <p:sldId id="285" r:id="rId26"/>
    <p:sldId id="265" r:id="rId27"/>
    <p:sldId id="266" r:id="rId28"/>
    <p:sldId id="26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1" d="100"/>
          <a:sy n="61" d="100"/>
        </p:scale>
        <p:origin x="10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705"/>
            <a:ext cx="7772400" cy="1470025"/>
          </a:xfrm>
        </p:spPr>
        <p:txBody>
          <a:bodyPr/>
          <a:lstStyle/>
          <a:p>
            <a:pPr>
              <a:defRPr sz="2800"/>
            </a:pPr>
            <a:r>
              <a:t>Summer Training</a:t>
            </a:r>
            <a:r>
              <a:rPr lang="en-IN"/>
              <a:t>/Internship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87682" y="1346200"/>
            <a:ext cx="8906006" cy="1752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Data Structures and Algorithms in C++</a:t>
            </a:r>
          </a:p>
          <a:p>
            <a:r>
              <a:rPr lang="en-IN" b="1" dirty="0">
                <a:solidFill>
                  <a:schemeClr val="tx1"/>
                </a:solidFill>
              </a:rPr>
              <a:t>ORGANIZATION NAME</a:t>
            </a:r>
          </a:p>
          <a:p>
            <a:r>
              <a:rPr b="1" dirty="0">
                <a:solidFill>
                  <a:schemeClr val="tx1"/>
                </a:solidFill>
              </a:rPr>
              <a:t>Project: </a:t>
            </a:r>
            <a:r>
              <a:rPr lang="en-IN" b="1" dirty="0">
                <a:solidFill>
                  <a:schemeClr val="tx1"/>
                </a:solidFill>
              </a:rPr>
              <a:t> MOVIE RECOMMENDATION SYSTEM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51255" y="3630930"/>
            <a:ext cx="70173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dirty="0"/>
              <a:t>Submitted By:</a:t>
            </a:r>
          </a:p>
          <a:p>
            <a:r>
              <a:rPr lang="en-IN" sz="2400" b="1" dirty="0"/>
              <a:t>Name:</a:t>
            </a:r>
            <a:r>
              <a:rPr lang="en-IN" sz="2400" dirty="0"/>
              <a:t>  </a:t>
            </a:r>
            <a:r>
              <a:rPr lang="en-IN" sz="2400" dirty="0" err="1"/>
              <a:t>Singamsetti</a:t>
            </a:r>
            <a:r>
              <a:rPr lang="en-IN" sz="2400" dirty="0"/>
              <a:t> Nanda Kishore</a:t>
            </a:r>
          </a:p>
          <a:p>
            <a:r>
              <a:rPr lang="en-IN" sz="2400" b="1" dirty="0"/>
              <a:t>Registration Number:</a:t>
            </a:r>
            <a:r>
              <a:rPr lang="en-IN" sz="2400" dirty="0"/>
              <a:t>  12403083</a:t>
            </a:r>
          </a:p>
          <a:p>
            <a:r>
              <a:rPr lang="en-IN" sz="2400" b="1" dirty="0"/>
              <a:t>Course:</a:t>
            </a:r>
            <a:r>
              <a:rPr lang="en-IN" sz="2400" dirty="0"/>
              <a:t> Data Structures and Algorithms using C++</a:t>
            </a:r>
          </a:p>
          <a:p>
            <a:endParaRPr lang="en-I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Course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C++ Basics</a:t>
            </a:r>
          </a:p>
          <a:p>
            <a:pPr>
              <a:defRPr sz="2200"/>
            </a:pPr>
            <a:r>
              <a:t>Arrays</a:t>
            </a:r>
          </a:p>
          <a:p>
            <a:pPr>
              <a:defRPr sz="2200"/>
            </a:pPr>
            <a:r>
              <a:t>Linked Lists</a:t>
            </a:r>
          </a:p>
          <a:p>
            <a:pPr>
              <a:defRPr sz="2200"/>
            </a:pPr>
            <a:r>
              <a:t>Stacks</a:t>
            </a:r>
          </a:p>
          <a:p>
            <a:pPr>
              <a:defRPr sz="2200"/>
            </a:pPr>
            <a:r>
              <a:t>Queues</a:t>
            </a:r>
          </a:p>
          <a:p>
            <a:pPr>
              <a:defRPr sz="2200"/>
            </a:pPr>
            <a:r>
              <a:t>Trees</a:t>
            </a:r>
          </a:p>
          <a:p>
            <a:pPr>
              <a:defRPr sz="2200"/>
            </a:pPr>
            <a:r>
              <a:t>Graphs</a:t>
            </a:r>
          </a:p>
          <a:p>
            <a:pPr>
              <a:defRPr sz="2200"/>
            </a:pPr>
            <a:r>
              <a:t>Sorting</a:t>
            </a:r>
          </a:p>
          <a:p>
            <a:pPr>
              <a:defRPr sz="2200"/>
            </a:pPr>
            <a:r>
              <a:t>Searching</a:t>
            </a:r>
          </a:p>
          <a:p>
            <a:pPr>
              <a:defRPr sz="2200"/>
            </a:pPr>
            <a:r>
              <a:t>Recursion</a:t>
            </a:r>
          </a:p>
          <a:p>
            <a:pPr>
              <a:defRPr sz="2200"/>
            </a:pPr>
            <a:r>
              <a:t>Dynamic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9540"/>
            <a:ext cx="8229600" cy="1143000"/>
          </a:xfrm>
        </p:spPr>
        <p:txBody>
          <a:bodyPr>
            <a:normAutofit/>
          </a:bodyPr>
          <a:lstStyle/>
          <a:p>
            <a:r>
              <a:rPr lang="en-IN" altLang="en-US" dirty="0"/>
              <a:t>C++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4840"/>
            <a:ext cx="10043160" cy="5394960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Definition:</a:t>
            </a:r>
            <a:endParaRPr lang="en-IN" sz="1400" dirty="0"/>
          </a:p>
          <a:p>
            <a:r>
              <a:rPr lang="en-IN" sz="1400" dirty="0"/>
              <a:t>C++ is a general-purpose, object-oriented programming language developed by </a:t>
            </a:r>
            <a:r>
              <a:rPr lang="en-IN" sz="1400" b="1" dirty="0"/>
              <a:t>Bjarne Stroustrup</a:t>
            </a:r>
            <a:r>
              <a:rPr lang="en-IN" sz="1400" dirty="0"/>
              <a:t>. </a:t>
            </a:r>
          </a:p>
          <a:p>
            <a:r>
              <a:rPr lang="en-IN" sz="1400" dirty="0"/>
              <a:t>It is widely used for system software, game development, competitive programming, and DSA.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Object-Oriented Programming (OOP) </a:t>
            </a:r>
          </a:p>
          <a:p>
            <a:r>
              <a:rPr lang="en-IN" sz="1400" dirty="0"/>
              <a:t>High Performance </a:t>
            </a:r>
          </a:p>
          <a:p>
            <a:r>
              <a:rPr lang="en-IN" sz="1400" dirty="0"/>
              <a:t>Platform Independent </a:t>
            </a:r>
          </a:p>
          <a:p>
            <a:r>
              <a:rPr lang="en-IN" sz="1400" dirty="0"/>
              <a:t>Rich Standard Template Library (STL) </a:t>
            </a:r>
          </a:p>
          <a:p>
            <a:r>
              <a:rPr lang="en-IN" sz="1400" dirty="0"/>
              <a:t>Supports Dynamic Memory Allocation </a:t>
            </a:r>
          </a:p>
          <a:p>
            <a:r>
              <a:rPr lang="en-IN" sz="1400" b="1" dirty="0"/>
              <a:t>Basic Structure of a C++ Program</a:t>
            </a:r>
          </a:p>
          <a:p>
            <a:r>
              <a:rPr lang="en-IN" sz="1400" dirty="0"/>
              <a:t>#include &lt;iostream&gt;</a:t>
            </a:r>
          </a:p>
          <a:p>
            <a:r>
              <a:rPr lang="en-IN" sz="1400" dirty="0"/>
              <a:t>using namespace std;</a:t>
            </a:r>
          </a:p>
          <a:p>
            <a:endParaRPr lang="en-IN" sz="1400" dirty="0"/>
          </a:p>
          <a:p>
            <a:r>
              <a:rPr lang="en-IN" sz="1400" dirty="0"/>
              <a:t>int main()</a:t>
            </a:r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cout</a:t>
            </a:r>
            <a:r>
              <a:rPr lang="en-IN" sz="1400" dirty="0"/>
              <a:t> &lt;&lt; "Hello World";</a:t>
            </a:r>
          </a:p>
          <a:p>
            <a:r>
              <a:rPr lang="en-IN" sz="1400" dirty="0"/>
              <a:t>    return 0;</a:t>
            </a:r>
          </a:p>
          <a:p>
            <a:r>
              <a:rPr lang="en-IN" sz="1400" dirty="0"/>
              <a:t>}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Software Development </a:t>
            </a:r>
          </a:p>
          <a:p>
            <a:r>
              <a:rPr lang="en-IN" sz="1400" dirty="0"/>
              <a:t>Game Development </a:t>
            </a:r>
          </a:p>
          <a:p>
            <a:r>
              <a:rPr lang="en-IN" sz="1400" dirty="0"/>
              <a:t>Operating Systems </a:t>
            </a:r>
          </a:p>
          <a:p>
            <a:r>
              <a:rPr lang="en-IN" sz="1400" dirty="0"/>
              <a:t>Data Structures &amp; Algorithms </a:t>
            </a:r>
          </a:p>
          <a:p>
            <a:r>
              <a:rPr lang="en-IN" sz="1400" dirty="0"/>
              <a:t>AI and Machine Learning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Arrays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r>
              <a:rPr lang="en-IN" sz="1200" b="1" dirty="0"/>
              <a:t>Definition</a:t>
            </a:r>
          </a:p>
          <a:p>
            <a:r>
              <a:rPr lang="en-IN" sz="1200" dirty="0"/>
              <a:t>An </a:t>
            </a:r>
            <a:r>
              <a:rPr lang="en-IN" sz="1200" b="1" dirty="0"/>
              <a:t>Array</a:t>
            </a:r>
            <a:r>
              <a:rPr lang="en-IN" sz="1200" dirty="0"/>
              <a:t> is a linear data structure that stores multiple elements of the </a:t>
            </a:r>
            <a:r>
              <a:rPr lang="en-IN" sz="1200" b="1" dirty="0"/>
              <a:t>same data type</a:t>
            </a:r>
            <a:r>
              <a:rPr lang="en-IN" sz="1200" dirty="0"/>
              <a:t> in </a:t>
            </a:r>
            <a:r>
              <a:rPr lang="en-IN" sz="1200" b="1" dirty="0"/>
              <a:t>contiguous memory locations</a:t>
            </a:r>
            <a:r>
              <a:rPr lang="en-IN" sz="1200" dirty="0"/>
              <a:t>. </a:t>
            </a:r>
          </a:p>
          <a:p>
            <a:r>
              <a:rPr lang="en-IN" sz="1200" dirty="0"/>
              <a:t>Each element is accessed using an </a:t>
            </a:r>
            <a:r>
              <a:rPr lang="en-IN" sz="1200" b="1" dirty="0"/>
              <a:t>index</a:t>
            </a:r>
            <a:r>
              <a:rPr lang="en-IN" sz="1200" dirty="0"/>
              <a:t>, starting from </a:t>
            </a:r>
            <a:r>
              <a:rPr lang="en-IN" sz="1200" b="1" dirty="0"/>
              <a:t>0</a:t>
            </a:r>
            <a:r>
              <a:rPr lang="en-IN" sz="1200" dirty="0"/>
              <a:t>. </a:t>
            </a:r>
          </a:p>
          <a:p>
            <a:r>
              <a:rPr lang="en-IN" sz="1200" b="1" dirty="0"/>
              <a:t>Features</a:t>
            </a:r>
          </a:p>
          <a:p>
            <a:r>
              <a:rPr lang="en-IN" sz="1200" dirty="0"/>
              <a:t>Stores multiple values under a single variable name. </a:t>
            </a:r>
          </a:p>
          <a:p>
            <a:r>
              <a:rPr lang="en-IN" sz="1200" dirty="0"/>
              <a:t>Fast access to elements using index. </a:t>
            </a:r>
          </a:p>
          <a:p>
            <a:r>
              <a:rPr lang="en-IN" sz="1200" dirty="0"/>
              <a:t>Fixed size once declared. </a:t>
            </a:r>
          </a:p>
          <a:p>
            <a:r>
              <a:rPr lang="en-IN" sz="1200" dirty="0"/>
              <a:t>Easy to traverse using loops. </a:t>
            </a:r>
          </a:p>
          <a:p>
            <a:r>
              <a:rPr lang="en-IN" sz="1200" b="1" dirty="0"/>
              <a:t>Advantages</a:t>
            </a:r>
          </a:p>
          <a:p>
            <a:r>
              <a:rPr lang="en-IN" sz="1200" dirty="0"/>
              <a:t>Fast random access (</a:t>
            </a:r>
            <a:r>
              <a:rPr lang="en-IN" sz="1200" b="1" dirty="0"/>
              <a:t>O(1)</a:t>
            </a:r>
            <a:r>
              <a:rPr lang="en-IN" sz="1200" dirty="0"/>
              <a:t>). </a:t>
            </a:r>
          </a:p>
          <a:p>
            <a:r>
              <a:rPr lang="en-IN" sz="1200" dirty="0"/>
              <a:t>Simple to implement. </a:t>
            </a:r>
          </a:p>
          <a:p>
            <a:r>
              <a:rPr lang="en-IN" sz="1200" dirty="0"/>
              <a:t>Efficient memory usage. </a:t>
            </a:r>
          </a:p>
          <a:p>
            <a:r>
              <a:rPr lang="en-IN" sz="1200" dirty="0"/>
              <a:t>Suitable for storing homogeneous data. </a:t>
            </a:r>
          </a:p>
          <a:p>
            <a:r>
              <a:rPr lang="en-IN" sz="1200" b="1" dirty="0"/>
              <a:t>Disadvantages</a:t>
            </a:r>
          </a:p>
          <a:p>
            <a:r>
              <a:rPr lang="en-IN" sz="1200" dirty="0"/>
              <a:t>Fixed size. </a:t>
            </a:r>
          </a:p>
          <a:p>
            <a:r>
              <a:rPr lang="en-IN" sz="1200" dirty="0"/>
              <a:t>Insertion and deletion are time-consuming. </a:t>
            </a:r>
          </a:p>
          <a:p>
            <a:r>
              <a:rPr lang="en-IN" sz="1200" dirty="0"/>
              <a:t>Can lead to memory wastage if the array is underutilized. </a:t>
            </a:r>
          </a:p>
          <a:p>
            <a:r>
              <a:rPr lang="en-IN" sz="1200" b="1" dirty="0"/>
              <a:t>Applications</a:t>
            </a:r>
          </a:p>
          <a:p>
            <a:r>
              <a:rPr lang="en-IN" sz="1200" dirty="0"/>
              <a:t>Storing student records. </a:t>
            </a:r>
          </a:p>
          <a:p>
            <a:r>
              <a:rPr lang="en-IN" sz="1200" dirty="0"/>
              <a:t>Matrix operations. </a:t>
            </a:r>
          </a:p>
          <a:p>
            <a:r>
              <a:rPr lang="en-IN" sz="1200" dirty="0"/>
              <a:t>Image processing. </a:t>
            </a:r>
          </a:p>
          <a:p>
            <a:r>
              <a:rPr lang="en-IN" sz="1200" dirty="0"/>
              <a:t>Implementing other data structures like stacks and queues. </a:t>
            </a:r>
          </a:p>
          <a:p>
            <a:r>
              <a:rPr lang="en-IN" sz="1200" b="1" dirty="0"/>
              <a:t>Example</a:t>
            </a:r>
          </a:p>
          <a:p>
            <a:r>
              <a:rPr lang="en-IN" sz="1200" dirty="0"/>
              <a:t>int marks[5] = {80, 75, 90, 85, 95};</a:t>
            </a:r>
          </a:p>
          <a:p>
            <a:r>
              <a:rPr lang="en-IN" sz="1200" dirty="0" err="1"/>
              <a:t>cout</a:t>
            </a:r>
            <a:r>
              <a:rPr lang="en-IN" sz="1200" dirty="0"/>
              <a:t> &lt;&lt; marks[2];   // Output: 90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1247"/>
            <a:ext cx="8229600" cy="1143000"/>
          </a:xfrm>
        </p:spPr>
        <p:txBody>
          <a:bodyPr/>
          <a:lstStyle/>
          <a:p>
            <a:r>
              <a:rPr dirty="0">
                <a:sym typeface="+mn-ea"/>
              </a:rPr>
              <a:t>Linked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832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Definition</a:t>
            </a:r>
          </a:p>
          <a:p>
            <a:r>
              <a:rPr lang="en-IN" sz="1400" dirty="0"/>
              <a:t>A </a:t>
            </a:r>
            <a:r>
              <a:rPr lang="en-IN" sz="1400" b="1" dirty="0"/>
              <a:t>Linked List</a:t>
            </a:r>
            <a:r>
              <a:rPr lang="en-IN" sz="1400" dirty="0"/>
              <a:t> is a linear data structure consisting of </a:t>
            </a:r>
            <a:r>
              <a:rPr lang="en-IN" sz="1400" b="1" dirty="0"/>
              <a:t>nodes</a:t>
            </a:r>
            <a:r>
              <a:rPr lang="en-IN" sz="1400" dirty="0"/>
              <a:t>, where each node contains </a:t>
            </a:r>
            <a:r>
              <a:rPr lang="en-IN" sz="1400" b="1" dirty="0"/>
              <a:t>data</a:t>
            </a:r>
            <a:r>
              <a:rPr lang="en-IN" sz="1400" dirty="0"/>
              <a:t> and a </a:t>
            </a:r>
            <a:r>
              <a:rPr lang="en-IN" sz="1400" b="1" dirty="0"/>
              <a:t>pointer to the next node</a:t>
            </a:r>
            <a:r>
              <a:rPr lang="en-IN" sz="1400" dirty="0"/>
              <a:t>. </a:t>
            </a:r>
          </a:p>
          <a:p>
            <a:r>
              <a:rPr lang="en-IN" sz="1400" dirty="0"/>
              <a:t>Unlike arrays, linked list elements are </a:t>
            </a:r>
            <a:r>
              <a:rPr lang="en-IN" sz="1400" b="1" dirty="0"/>
              <a:t>not stored in contiguous memory</a:t>
            </a:r>
            <a:r>
              <a:rPr lang="en-IN" sz="1400" dirty="0"/>
              <a:t>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Dynamic size. </a:t>
            </a:r>
          </a:p>
          <a:p>
            <a:r>
              <a:rPr lang="en-IN" sz="1400" dirty="0"/>
              <a:t>Sequential access to elements. </a:t>
            </a:r>
          </a:p>
          <a:p>
            <a:r>
              <a:rPr lang="en-IN" sz="1400" dirty="0"/>
              <a:t>Easy insertion and deletion. </a:t>
            </a:r>
          </a:p>
          <a:p>
            <a:r>
              <a:rPr lang="en-IN" sz="1400" dirty="0"/>
              <a:t>Efficient memory utilization.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Dynamic memory allocation. </a:t>
            </a:r>
          </a:p>
          <a:p>
            <a:r>
              <a:rPr lang="en-IN" sz="1400" dirty="0"/>
              <a:t>Fast insertion and deletion without shifting elements. </a:t>
            </a:r>
          </a:p>
          <a:p>
            <a:r>
              <a:rPr lang="en-IN" sz="1400" dirty="0"/>
              <a:t>No fixed size limitation. </a:t>
            </a:r>
          </a:p>
          <a:p>
            <a:r>
              <a:rPr lang="en-IN" sz="1400" dirty="0"/>
              <a:t>Suitable for implementing stacks, queues, and graphs.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Extra memory required for storing pointers. </a:t>
            </a:r>
          </a:p>
          <a:p>
            <a:r>
              <a:rPr lang="en-IN" sz="1400" dirty="0"/>
              <a:t>Slower access compared to arrays (no direct indexing). </a:t>
            </a:r>
          </a:p>
          <a:p>
            <a:r>
              <a:rPr lang="en-IN" sz="1400" dirty="0"/>
              <a:t>Sequential traversal is required to access elements.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Implementing Stacks and Queues. </a:t>
            </a:r>
          </a:p>
          <a:p>
            <a:r>
              <a:rPr lang="en-IN" sz="1400" dirty="0"/>
              <a:t>Music Playlist Management. </a:t>
            </a:r>
          </a:p>
          <a:p>
            <a:r>
              <a:rPr lang="en-IN" sz="1400" dirty="0"/>
              <a:t>Browser History Navigation. </a:t>
            </a:r>
          </a:p>
          <a:p>
            <a:r>
              <a:rPr lang="en-IN" sz="1400" dirty="0"/>
              <a:t>Memory Management. </a:t>
            </a:r>
          </a:p>
          <a:p>
            <a:r>
              <a:rPr lang="en-IN" sz="1400" dirty="0"/>
              <a:t>Polynomial Manipulation.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3773"/>
            <a:ext cx="8229600" cy="1143000"/>
          </a:xfrm>
        </p:spPr>
        <p:txBody>
          <a:bodyPr/>
          <a:lstStyle/>
          <a:p>
            <a:r>
              <a:rPr dirty="0">
                <a:sym typeface="+mn-ea"/>
              </a:rPr>
              <a:t>Stacks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113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</a:t>
            </a:r>
          </a:p>
          <a:p>
            <a:r>
              <a:rPr lang="en-IN" sz="1400" dirty="0"/>
              <a:t>A </a:t>
            </a:r>
            <a:r>
              <a:rPr lang="en-IN" sz="1400" b="1" dirty="0"/>
              <a:t>Stack</a:t>
            </a:r>
            <a:r>
              <a:rPr lang="en-IN" sz="1400" dirty="0"/>
              <a:t> is a linear data structure that follows the </a:t>
            </a:r>
            <a:r>
              <a:rPr lang="en-IN" sz="1400" b="1" dirty="0"/>
              <a:t>LIFO (Last In, First Out)</a:t>
            </a:r>
            <a:r>
              <a:rPr lang="en-IN" sz="1400" dirty="0"/>
              <a:t> principle. </a:t>
            </a:r>
          </a:p>
          <a:p>
            <a:r>
              <a:rPr lang="en-IN" sz="1400" dirty="0"/>
              <a:t>The element inserted last is the first one to be removed.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Follows </a:t>
            </a:r>
            <a:r>
              <a:rPr lang="en-IN" sz="1400" b="1" dirty="0"/>
              <a:t>LIFO</a:t>
            </a:r>
            <a:r>
              <a:rPr lang="en-IN" sz="1400" dirty="0"/>
              <a:t> order. </a:t>
            </a:r>
          </a:p>
          <a:p>
            <a:r>
              <a:rPr lang="en-IN" sz="1400" dirty="0"/>
              <a:t>Insertion and deletion occur only at the </a:t>
            </a:r>
            <a:r>
              <a:rPr lang="en-IN" sz="1400" b="1" dirty="0"/>
              <a:t>top</a:t>
            </a:r>
            <a:r>
              <a:rPr lang="en-IN" sz="1400" dirty="0"/>
              <a:t> of the stack. </a:t>
            </a:r>
          </a:p>
          <a:p>
            <a:r>
              <a:rPr lang="en-IN" sz="1400" dirty="0"/>
              <a:t>Simple and efficient data structure. </a:t>
            </a:r>
          </a:p>
          <a:p>
            <a:r>
              <a:rPr lang="en-IN" sz="1400" dirty="0"/>
              <a:t>Supports operations like </a:t>
            </a:r>
            <a:r>
              <a:rPr lang="en-IN" sz="1400" b="1" dirty="0"/>
              <a:t>Push</a:t>
            </a:r>
            <a:r>
              <a:rPr lang="en-IN" sz="1400" dirty="0"/>
              <a:t>, </a:t>
            </a:r>
            <a:r>
              <a:rPr lang="en-IN" sz="1400" b="1" dirty="0"/>
              <a:t>Pop</a:t>
            </a:r>
            <a:r>
              <a:rPr lang="en-IN" sz="1400" dirty="0"/>
              <a:t>, </a:t>
            </a:r>
            <a:r>
              <a:rPr lang="en-IN" sz="1400" b="1" dirty="0"/>
              <a:t>Peek (Top)</a:t>
            </a:r>
            <a:r>
              <a:rPr lang="en-IN" sz="1400" dirty="0"/>
              <a:t>, and </a:t>
            </a:r>
            <a:r>
              <a:rPr lang="en-IN" sz="1400" b="1" dirty="0" err="1"/>
              <a:t>isEmpty</a:t>
            </a:r>
            <a:r>
              <a:rPr lang="en-IN" sz="1400" dirty="0"/>
              <a:t>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Fast insertion and deletion (</a:t>
            </a:r>
            <a:r>
              <a:rPr lang="en-IN" sz="1400" b="1" dirty="0"/>
              <a:t>O(1)</a:t>
            </a:r>
            <a:r>
              <a:rPr lang="en-IN" sz="1400" dirty="0"/>
              <a:t>). </a:t>
            </a:r>
          </a:p>
          <a:p>
            <a:r>
              <a:rPr lang="en-IN" sz="1400" dirty="0"/>
              <a:t>Easy to implement. </a:t>
            </a:r>
          </a:p>
          <a:p>
            <a:r>
              <a:rPr lang="en-IN" sz="1400" dirty="0"/>
              <a:t>Efficient memory management. </a:t>
            </a:r>
          </a:p>
          <a:p>
            <a:r>
              <a:rPr lang="en-IN" sz="1400" dirty="0"/>
              <a:t>Useful for recursive function calls and expression evaluation.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No direct access to middle elements. </a:t>
            </a:r>
          </a:p>
          <a:p>
            <a:r>
              <a:rPr lang="en-IN" sz="1400" dirty="0"/>
              <a:t>Limited access only through the top element. </a:t>
            </a:r>
          </a:p>
          <a:p>
            <a:r>
              <a:rPr lang="en-IN" sz="1400" dirty="0"/>
              <a:t>Searching an element takes </a:t>
            </a:r>
            <a:r>
              <a:rPr lang="en-IN" sz="1400" b="1" dirty="0"/>
              <a:t>O(n)</a:t>
            </a:r>
            <a:r>
              <a:rPr lang="en-IN" sz="1400" dirty="0"/>
              <a:t> time.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Function Call Management (Recursion) </a:t>
            </a:r>
          </a:p>
          <a:p>
            <a:r>
              <a:rPr lang="en-IN" sz="1400" dirty="0"/>
              <a:t>Undo/Redo Operations </a:t>
            </a:r>
          </a:p>
          <a:p>
            <a:r>
              <a:rPr lang="en-IN" sz="1400" dirty="0"/>
              <a:t>Browser Back Button </a:t>
            </a:r>
          </a:p>
          <a:p>
            <a:r>
              <a:rPr lang="en-IN" sz="1400" dirty="0"/>
              <a:t>Expression Evaluation </a:t>
            </a:r>
          </a:p>
          <a:p>
            <a:r>
              <a:rPr lang="en-IN" sz="1400" dirty="0"/>
              <a:t>Parentheses Matching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Queues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887" y="930689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</a:t>
            </a:r>
          </a:p>
          <a:p>
            <a:r>
              <a:rPr lang="en-IN" sz="1400" dirty="0"/>
              <a:t>A </a:t>
            </a:r>
            <a:r>
              <a:rPr lang="en-IN" sz="1400" b="1" dirty="0"/>
              <a:t>Queue</a:t>
            </a:r>
            <a:r>
              <a:rPr lang="en-IN" sz="1400" dirty="0"/>
              <a:t> is a linear data structure that follows the </a:t>
            </a:r>
            <a:r>
              <a:rPr lang="en-IN" sz="1400" b="1" dirty="0"/>
              <a:t>FIFO (First In, First Out)</a:t>
            </a:r>
            <a:r>
              <a:rPr lang="en-IN" sz="1400" dirty="0"/>
              <a:t> principle. </a:t>
            </a:r>
          </a:p>
          <a:p>
            <a:r>
              <a:rPr lang="en-IN" sz="1400" dirty="0"/>
              <a:t>The element inserted first is removed first.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Follows FIFO order. </a:t>
            </a:r>
          </a:p>
          <a:p>
            <a:r>
              <a:rPr lang="en-IN" sz="1400" dirty="0"/>
              <a:t>Insertion is performed at the </a:t>
            </a:r>
            <a:r>
              <a:rPr lang="en-IN" sz="1400" b="1" dirty="0"/>
              <a:t>rear</a:t>
            </a:r>
            <a:r>
              <a:rPr lang="en-IN" sz="1400" dirty="0"/>
              <a:t>. </a:t>
            </a:r>
          </a:p>
          <a:p>
            <a:r>
              <a:rPr lang="en-IN" sz="1400" dirty="0"/>
              <a:t>Deletion is performed from the </a:t>
            </a:r>
            <a:r>
              <a:rPr lang="en-IN" sz="1400" b="1" dirty="0"/>
              <a:t>front</a:t>
            </a:r>
            <a:r>
              <a:rPr lang="en-IN" sz="1400" dirty="0"/>
              <a:t>. </a:t>
            </a:r>
          </a:p>
          <a:p>
            <a:r>
              <a:rPr lang="en-IN" sz="1400" dirty="0"/>
              <a:t>Efficient for processing tasks in sequence.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Simple to implement. </a:t>
            </a:r>
          </a:p>
          <a:p>
            <a:r>
              <a:rPr lang="en-IN" sz="1400" dirty="0"/>
              <a:t>Maintains the order of elements. </a:t>
            </a:r>
          </a:p>
          <a:p>
            <a:r>
              <a:rPr lang="en-IN" sz="1400" dirty="0"/>
              <a:t>Efficient insertion and deletion (</a:t>
            </a:r>
            <a:r>
              <a:rPr lang="en-IN" sz="1400" b="1" dirty="0"/>
              <a:t>O(1)</a:t>
            </a:r>
            <a:r>
              <a:rPr lang="en-IN" sz="1400" dirty="0"/>
              <a:t>). </a:t>
            </a:r>
          </a:p>
          <a:p>
            <a:r>
              <a:rPr lang="en-IN" sz="1400" dirty="0"/>
              <a:t>Suitable for scheduling and buffering tasks.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No direct access to middle elements. </a:t>
            </a:r>
          </a:p>
          <a:p>
            <a:r>
              <a:rPr lang="en-IN" sz="1400" dirty="0"/>
              <a:t>Fixed-size queues can become full (in array implementation). </a:t>
            </a:r>
          </a:p>
          <a:p>
            <a:r>
              <a:rPr lang="en-IN" sz="1400" dirty="0"/>
              <a:t>Searching an element takes </a:t>
            </a:r>
            <a:r>
              <a:rPr lang="en-IN" sz="1400" b="1" dirty="0"/>
              <a:t>O(n)</a:t>
            </a:r>
            <a:r>
              <a:rPr lang="en-IN" sz="1400" dirty="0"/>
              <a:t> time.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CPU Scheduling </a:t>
            </a:r>
          </a:p>
          <a:p>
            <a:r>
              <a:rPr lang="en-IN" sz="1400" dirty="0"/>
              <a:t>Printer Queue </a:t>
            </a:r>
          </a:p>
          <a:p>
            <a:r>
              <a:rPr lang="en-IN" sz="1400" dirty="0"/>
              <a:t>Ticket Booking Systems </a:t>
            </a:r>
          </a:p>
          <a:p>
            <a:r>
              <a:rPr lang="en-IN" sz="1400" dirty="0"/>
              <a:t>Call </a:t>
            </a:r>
            <a:r>
              <a:rPr lang="en-IN" sz="1400" dirty="0" err="1"/>
              <a:t>Center</a:t>
            </a:r>
            <a:r>
              <a:rPr lang="en-IN" sz="1400" dirty="0"/>
              <a:t> Management </a:t>
            </a:r>
          </a:p>
          <a:p>
            <a:r>
              <a:rPr lang="en-IN" sz="1400" dirty="0"/>
              <a:t>Breadth-First Search (BFS) in Graphs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>
                <a:sym typeface="+mn-ea"/>
              </a:rPr>
              <a:t>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112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</a:t>
            </a:r>
          </a:p>
          <a:p>
            <a:r>
              <a:rPr lang="en-IN" sz="1400" dirty="0"/>
              <a:t>A </a:t>
            </a:r>
            <a:r>
              <a:rPr lang="en-IN" sz="1400" b="1" dirty="0"/>
              <a:t>Tree</a:t>
            </a:r>
            <a:r>
              <a:rPr lang="en-IN" sz="1400" dirty="0"/>
              <a:t> is a non-linear hierarchical data structure consisting of </a:t>
            </a:r>
            <a:r>
              <a:rPr lang="en-IN" sz="1400" b="1" dirty="0"/>
              <a:t>nodes</a:t>
            </a:r>
            <a:r>
              <a:rPr lang="en-IN" sz="1400" dirty="0"/>
              <a:t> connected by </a:t>
            </a:r>
            <a:r>
              <a:rPr lang="en-IN" sz="1400" b="1" dirty="0"/>
              <a:t>edges</a:t>
            </a:r>
            <a:r>
              <a:rPr lang="en-IN" sz="1400" dirty="0"/>
              <a:t>. </a:t>
            </a:r>
          </a:p>
          <a:p>
            <a:r>
              <a:rPr lang="en-IN" sz="1400" dirty="0"/>
              <a:t>The topmost node is called the </a:t>
            </a:r>
            <a:r>
              <a:rPr lang="en-IN" sz="1400" b="1" dirty="0"/>
              <a:t>Root</a:t>
            </a:r>
            <a:r>
              <a:rPr lang="en-IN" sz="1400" dirty="0"/>
              <a:t>, and nodes without children are called </a:t>
            </a:r>
            <a:r>
              <a:rPr lang="en-IN" sz="1400" b="1" dirty="0"/>
              <a:t>Leaf Nodes</a:t>
            </a:r>
            <a:r>
              <a:rPr lang="en-IN" sz="1400" dirty="0"/>
              <a:t>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Hierarchical structure. </a:t>
            </a:r>
          </a:p>
          <a:p>
            <a:r>
              <a:rPr lang="en-IN" sz="1400" dirty="0"/>
              <a:t>Consists of Parent and Child nodes. </a:t>
            </a:r>
          </a:p>
          <a:p>
            <a:r>
              <a:rPr lang="en-IN" sz="1400" dirty="0"/>
              <a:t>No cycles are present. </a:t>
            </a:r>
          </a:p>
          <a:p>
            <a:r>
              <a:rPr lang="en-IN" sz="1400" dirty="0"/>
              <a:t>Efficient for searching and organizing data.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Fast searching, insertion, and deletion in balanced trees. </a:t>
            </a:r>
          </a:p>
          <a:p>
            <a:r>
              <a:rPr lang="en-IN" sz="1400" dirty="0"/>
              <a:t>Represents hierarchical relationships effectively. </a:t>
            </a:r>
          </a:p>
          <a:p>
            <a:r>
              <a:rPr lang="en-IN" sz="1400" dirty="0"/>
              <a:t>Efficient memory organization. </a:t>
            </a:r>
          </a:p>
          <a:p>
            <a:r>
              <a:rPr lang="en-IN" sz="1400" dirty="0"/>
              <a:t>Supports recursive operations naturally.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More complex to implement than linear data structures. </a:t>
            </a:r>
          </a:p>
          <a:p>
            <a:r>
              <a:rPr lang="en-IN" sz="1400" dirty="0"/>
              <a:t>Unbalanced trees can reduce performance. </a:t>
            </a:r>
          </a:p>
          <a:p>
            <a:r>
              <a:rPr lang="en-IN" sz="1400" dirty="0"/>
              <a:t>Requires additional memory for pointers.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File System Organization </a:t>
            </a:r>
          </a:p>
          <a:p>
            <a:r>
              <a:rPr lang="en-IN" sz="1400" dirty="0"/>
              <a:t>Database Indexing (B-Trees, B+ Trees) </a:t>
            </a:r>
          </a:p>
          <a:p>
            <a:r>
              <a:rPr lang="en-IN" sz="1400" dirty="0"/>
              <a:t>Decision Trees in Machine Learning </a:t>
            </a:r>
          </a:p>
          <a:p>
            <a:r>
              <a:rPr lang="en-IN" sz="1400" dirty="0"/>
              <a:t>Expression Trees </a:t>
            </a:r>
          </a:p>
          <a:p>
            <a:r>
              <a:rPr lang="en-IN" sz="1400" dirty="0"/>
              <a:t>XML/HTML Document Structure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8825"/>
            <a:ext cx="8229600" cy="1143000"/>
          </a:xfrm>
        </p:spPr>
        <p:txBody>
          <a:bodyPr/>
          <a:lstStyle/>
          <a:p>
            <a:r>
              <a:rPr dirty="0">
                <a:sym typeface="+mn-ea"/>
              </a:rPr>
              <a:t>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8430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</a:t>
            </a:r>
          </a:p>
          <a:p>
            <a:r>
              <a:rPr lang="en-IN" sz="1400" dirty="0"/>
              <a:t>A </a:t>
            </a:r>
            <a:r>
              <a:rPr lang="en-IN" sz="1400" b="1" dirty="0"/>
              <a:t>Graph</a:t>
            </a:r>
            <a:r>
              <a:rPr lang="en-IN" sz="1400" dirty="0"/>
              <a:t> is a non-linear data structure consisting of </a:t>
            </a:r>
            <a:r>
              <a:rPr lang="en-IN" sz="1400" b="1" dirty="0"/>
              <a:t>vertices (nodes)</a:t>
            </a:r>
            <a:r>
              <a:rPr lang="en-IN" sz="1400" dirty="0"/>
              <a:t> and </a:t>
            </a:r>
            <a:r>
              <a:rPr lang="en-IN" sz="1400" b="1" dirty="0"/>
              <a:t>edges</a:t>
            </a:r>
            <a:r>
              <a:rPr lang="en-IN" sz="1400" dirty="0"/>
              <a:t> that connect them. </a:t>
            </a:r>
          </a:p>
          <a:p>
            <a:r>
              <a:rPr lang="en-IN" sz="1400" dirty="0"/>
              <a:t>It is used to represent relationships between different objects.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Consists of </a:t>
            </a:r>
            <a:r>
              <a:rPr lang="en-IN" sz="1400" b="1" dirty="0"/>
              <a:t>vertices</a:t>
            </a:r>
            <a:r>
              <a:rPr lang="en-IN" sz="1400" dirty="0"/>
              <a:t> and </a:t>
            </a:r>
            <a:r>
              <a:rPr lang="en-IN" sz="1400" b="1" dirty="0"/>
              <a:t>edges</a:t>
            </a:r>
            <a:r>
              <a:rPr lang="en-IN" sz="1400" dirty="0"/>
              <a:t>. </a:t>
            </a:r>
          </a:p>
          <a:p>
            <a:r>
              <a:rPr lang="en-IN" sz="1400" dirty="0"/>
              <a:t>Can be </a:t>
            </a:r>
            <a:r>
              <a:rPr lang="en-IN" sz="1400" b="1" dirty="0"/>
              <a:t>Directed</a:t>
            </a:r>
            <a:r>
              <a:rPr lang="en-IN" sz="1400" dirty="0"/>
              <a:t> or </a:t>
            </a:r>
            <a:r>
              <a:rPr lang="en-IN" sz="1400" b="1" dirty="0"/>
              <a:t>Undirected</a:t>
            </a:r>
            <a:r>
              <a:rPr lang="en-IN" sz="1400" dirty="0"/>
              <a:t>. </a:t>
            </a:r>
          </a:p>
          <a:p>
            <a:r>
              <a:rPr lang="en-IN" sz="1400" dirty="0"/>
              <a:t>Can be </a:t>
            </a:r>
            <a:r>
              <a:rPr lang="en-IN" sz="1400" b="1" dirty="0"/>
              <a:t>Weighted</a:t>
            </a:r>
            <a:r>
              <a:rPr lang="en-IN" sz="1400" dirty="0"/>
              <a:t> or </a:t>
            </a:r>
            <a:r>
              <a:rPr lang="en-IN" sz="1400" b="1" dirty="0"/>
              <a:t>Unweighted</a:t>
            </a:r>
            <a:r>
              <a:rPr lang="en-IN" sz="1400" dirty="0"/>
              <a:t>. </a:t>
            </a:r>
          </a:p>
          <a:p>
            <a:r>
              <a:rPr lang="en-IN" sz="1400" dirty="0"/>
              <a:t>Represents complex relationships efficiently.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Models real-world networks effectively. </a:t>
            </a:r>
          </a:p>
          <a:p>
            <a:r>
              <a:rPr lang="en-IN" sz="1400" dirty="0"/>
              <a:t>Efficient for finding paths and connections. </a:t>
            </a:r>
          </a:p>
          <a:p>
            <a:r>
              <a:rPr lang="en-IN" sz="1400" dirty="0"/>
              <a:t>Supports algorithms like BFS and DFS. </a:t>
            </a:r>
          </a:p>
          <a:p>
            <a:r>
              <a:rPr lang="en-IN" sz="1400" dirty="0"/>
              <a:t>Flexible representation of interconnected data.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More complex to implement than linear data structures. </a:t>
            </a:r>
          </a:p>
          <a:p>
            <a:r>
              <a:rPr lang="en-IN" sz="1400" dirty="0"/>
              <a:t>Requires additional memory for storing edges. </a:t>
            </a:r>
          </a:p>
          <a:p>
            <a:r>
              <a:rPr lang="en-IN" sz="1400" dirty="0"/>
              <a:t>Traversal algorithms can be complex for large graphs.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Social Networks (Facebook, Instagram) </a:t>
            </a:r>
          </a:p>
          <a:p>
            <a:r>
              <a:rPr lang="en-IN" sz="1400" dirty="0"/>
              <a:t>Google Maps &amp; GPS Navigation </a:t>
            </a:r>
          </a:p>
          <a:p>
            <a:r>
              <a:rPr lang="en-IN" sz="1400" dirty="0"/>
              <a:t>Flight Route Planning </a:t>
            </a:r>
          </a:p>
          <a:p>
            <a:r>
              <a:rPr lang="en-IN" sz="1400" dirty="0"/>
              <a:t>Computer Networks </a:t>
            </a:r>
          </a:p>
          <a:p>
            <a:r>
              <a:rPr lang="en-IN" sz="1400" dirty="0"/>
              <a:t>Movie Recommendation Systems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13669"/>
            <a:ext cx="8229600" cy="1143000"/>
          </a:xfrm>
        </p:spPr>
        <p:txBody>
          <a:bodyPr/>
          <a:lstStyle/>
          <a:p>
            <a:r>
              <a:rPr dirty="0">
                <a:sym typeface="+mn-ea"/>
              </a:rPr>
              <a:t>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3274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</a:t>
            </a:r>
          </a:p>
          <a:p>
            <a:r>
              <a:rPr lang="en-IN" sz="1400" b="1" dirty="0"/>
              <a:t>Sorting</a:t>
            </a:r>
            <a:r>
              <a:rPr lang="en-IN" sz="1400" dirty="0"/>
              <a:t> is the process of arranging data in a specific order, such as </a:t>
            </a:r>
            <a:r>
              <a:rPr lang="en-IN" sz="1400" b="1" dirty="0"/>
              <a:t>ascending</a:t>
            </a:r>
            <a:r>
              <a:rPr lang="en-IN" sz="1400" dirty="0"/>
              <a:t> or </a:t>
            </a:r>
            <a:r>
              <a:rPr lang="en-IN" sz="1400" b="1" dirty="0"/>
              <a:t>descending</a:t>
            </a:r>
            <a:r>
              <a:rPr lang="en-IN" sz="1400" dirty="0"/>
              <a:t>. </a:t>
            </a:r>
          </a:p>
          <a:p>
            <a:r>
              <a:rPr lang="en-IN" sz="1400" dirty="0"/>
              <a:t>It helps in organizing data and improves the efficiency of searching and processing.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Arranges data in a systematic order. </a:t>
            </a:r>
          </a:p>
          <a:p>
            <a:r>
              <a:rPr lang="en-IN" sz="1400" dirty="0"/>
              <a:t>Improves search performance. </a:t>
            </a:r>
          </a:p>
          <a:p>
            <a:r>
              <a:rPr lang="en-IN" sz="1400" dirty="0"/>
              <a:t>Makes data analysis easier. </a:t>
            </a:r>
          </a:p>
          <a:p>
            <a:r>
              <a:rPr lang="en-IN" sz="1400" dirty="0"/>
              <a:t>Can be performed using various algorithms.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Faster searching (especially with Binary Search). </a:t>
            </a:r>
          </a:p>
          <a:p>
            <a:r>
              <a:rPr lang="en-IN" sz="1400" dirty="0"/>
              <a:t>Better data organization. </a:t>
            </a:r>
          </a:p>
          <a:p>
            <a:r>
              <a:rPr lang="en-IN" sz="1400" dirty="0"/>
              <a:t>Simplifies data management. </a:t>
            </a:r>
          </a:p>
          <a:p>
            <a:r>
              <a:rPr lang="en-IN" sz="1400" dirty="0"/>
              <a:t>Improves algorithm efficiency.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Some sorting algorithms require extra memory. </a:t>
            </a:r>
          </a:p>
          <a:p>
            <a:r>
              <a:rPr lang="en-IN" sz="1400" dirty="0"/>
              <a:t>Sorting large datasets can be time-consuming. </a:t>
            </a:r>
          </a:p>
          <a:p>
            <a:r>
              <a:rPr lang="en-IN" sz="1400" dirty="0"/>
              <a:t>Algorithm performance depends on the chosen technique.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Student Result Management </a:t>
            </a:r>
          </a:p>
          <a:p>
            <a:r>
              <a:rPr lang="en-IN" sz="1400" dirty="0"/>
              <a:t>Database Record Sorting </a:t>
            </a:r>
          </a:p>
          <a:p>
            <a:r>
              <a:rPr lang="en-IN" sz="1400" dirty="0"/>
              <a:t>E-commerce Product Listings </a:t>
            </a:r>
          </a:p>
          <a:p>
            <a:r>
              <a:rPr lang="en-IN" sz="1400" dirty="0"/>
              <a:t>Library Management Systems </a:t>
            </a:r>
          </a:p>
          <a:p>
            <a:r>
              <a:rPr lang="en-IN" sz="1400" dirty="0"/>
              <a:t>Movie Recommendation Systems (sorting movies by ratings)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6299"/>
            <a:ext cx="8229600" cy="1143000"/>
          </a:xfrm>
        </p:spPr>
        <p:txBody>
          <a:bodyPr/>
          <a:lstStyle/>
          <a:p>
            <a:r>
              <a:rPr dirty="0">
                <a:sym typeface="+mn-ea"/>
              </a:rPr>
              <a:t>Searching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0748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</a:t>
            </a:r>
          </a:p>
          <a:p>
            <a:r>
              <a:rPr lang="en-IN" sz="1400" b="1" dirty="0"/>
              <a:t>Searching</a:t>
            </a:r>
            <a:r>
              <a:rPr lang="en-IN" sz="1400" dirty="0"/>
              <a:t> is the process of finding a specific element in a collection of data. </a:t>
            </a:r>
          </a:p>
          <a:p>
            <a:r>
              <a:rPr lang="en-IN" sz="1400" dirty="0"/>
              <a:t>It helps users quickly locate the required information from a dataset.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Locates a specific element efficiently. </a:t>
            </a:r>
          </a:p>
          <a:p>
            <a:r>
              <a:rPr lang="en-IN" sz="1400" dirty="0"/>
              <a:t>Can be performed on sorted or unsorted data. </a:t>
            </a:r>
          </a:p>
          <a:p>
            <a:r>
              <a:rPr lang="en-IN" sz="1400" dirty="0"/>
              <a:t>Improves data retrieval speed. </a:t>
            </a:r>
          </a:p>
          <a:p>
            <a:r>
              <a:rPr lang="en-IN" sz="1400" dirty="0"/>
              <a:t>Uses different algorithms based on the data structure.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Quick access to required data. </a:t>
            </a:r>
          </a:p>
          <a:p>
            <a:r>
              <a:rPr lang="en-IN" sz="1400" dirty="0"/>
              <a:t>Saves time in large datasets. </a:t>
            </a:r>
          </a:p>
          <a:p>
            <a:r>
              <a:rPr lang="en-IN" sz="1400" dirty="0"/>
              <a:t>Improves application performance. </a:t>
            </a:r>
          </a:p>
          <a:p>
            <a:r>
              <a:rPr lang="en-IN" sz="1400" dirty="0"/>
              <a:t>Essential for database and file management systems.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Linear Search is slower for large datasets. </a:t>
            </a:r>
          </a:p>
          <a:p>
            <a:r>
              <a:rPr lang="en-IN" sz="1400" dirty="0"/>
              <a:t>Binary Search works only on </a:t>
            </a:r>
            <a:r>
              <a:rPr lang="en-IN" sz="1400" b="1" dirty="0"/>
              <a:t>sorted data</a:t>
            </a:r>
            <a:r>
              <a:rPr lang="en-IN" sz="1400" dirty="0"/>
              <a:t>. </a:t>
            </a:r>
          </a:p>
          <a:p>
            <a:r>
              <a:rPr lang="en-IN" sz="1400" dirty="0"/>
              <a:t>Efficiency depends on the search algorithm used.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Search Engines </a:t>
            </a:r>
          </a:p>
          <a:p>
            <a:r>
              <a:rPr lang="en-IN" sz="1400" dirty="0"/>
              <a:t>Library Management Systems </a:t>
            </a:r>
          </a:p>
          <a:p>
            <a:r>
              <a:rPr lang="en-IN" sz="1400" dirty="0"/>
              <a:t>Student Record Systems </a:t>
            </a:r>
          </a:p>
          <a:p>
            <a:r>
              <a:rPr lang="en-IN" sz="1400" dirty="0"/>
              <a:t>E-commerce Product Search </a:t>
            </a:r>
          </a:p>
          <a:p>
            <a:r>
              <a:rPr lang="en-IN" sz="1400" dirty="0"/>
              <a:t>Movie Recommendation Systems (search by ID, name, or genre)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6508"/>
            <a:ext cx="8229600" cy="1143000"/>
          </a:xfrm>
        </p:spPr>
        <p:txBody>
          <a:bodyPr/>
          <a:lstStyle/>
          <a:p>
            <a:r>
              <a:rPr dirty="0">
                <a:sym typeface="+mn-ea"/>
              </a:rPr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3483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Definition</a:t>
            </a:r>
          </a:p>
          <a:p>
            <a:r>
              <a:rPr lang="en-IN" sz="1400" b="1" dirty="0"/>
              <a:t>Recursion</a:t>
            </a:r>
            <a:r>
              <a:rPr lang="en-IN" sz="1400" dirty="0"/>
              <a:t> is a programming technique in which a function </a:t>
            </a:r>
            <a:r>
              <a:rPr lang="en-IN" sz="1400" b="1" dirty="0"/>
              <a:t>calls itself</a:t>
            </a:r>
            <a:r>
              <a:rPr lang="en-IN" sz="1400" dirty="0"/>
              <a:t> to solve a problem. </a:t>
            </a:r>
          </a:p>
          <a:p>
            <a:r>
              <a:rPr lang="en-IN" sz="1400" dirty="0"/>
              <a:t>It breaks a complex problem into smaller, similar subproblems until a </a:t>
            </a:r>
            <a:r>
              <a:rPr lang="en-IN" sz="1400" b="1" dirty="0"/>
              <a:t>base case</a:t>
            </a:r>
            <a:r>
              <a:rPr lang="en-IN" sz="1400" dirty="0"/>
              <a:t> is reached.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Function calls itself repeatedly. </a:t>
            </a:r>
          </a:p>
          <a:p>
            <a:r>
              <a:rPr lang="en-IN" sz="1400" dirty="0"/>
              <a:t>Must have a </a:t>
            </a:r>
            <a:r>
              <a:rPr lang="en-IN" sz="1400" b="1" dirty="0"/>
              <a:t>base case</a:t>
            </a:r>
            <a:r>
              <a:rPr lang="en-IN" sz="1400" dirty="0"/>
              <a:t> to stop recursion. </a:t>
            </a:r>
          </a:p>
          <a:p>
            <a:r>
              <a:rPr lang="en-IN" sz="1400" dirty="0"/>
              <a:t>Simplifies solutions for complex problems. </a:t>
            </a:r>
          </a:p>
          <a:p>
            <a:r>
              <a:rPr lang="en-IN" sz="1400" dirty="0"/>
              <a:t>Uses the </a:t>
            </a:r>
            <a:r>
              <a:rPr lang="en-IN" sz="1400" b="1" dirty="0"/>
              <a:t>function call stack</a:t>
            </a:r>
            <a:r>
              <a:rPr lang="en-IN" sz="1400" dirty="0"/>
              <a:t> to manage recursive calls.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Makes code shorter and easier to understand. </a:t>
            </a:r>
          </a:p>
          <a:p>
            <a:r>
              <a:rPr lang="en-IN" sz="1400" dirty="0"/>
              <a:t>Ideal for tree and graph traversal. </a:t>
            </a:r>
          </a:p>
          <a:p>
            <a:r>
              <a:rPr lang="en-IN" sz="1400" dirty="0"/>
              <a:t>Useful for divide-and-conquer algorithms. </a:t>
            </a:r>
          </a:p>
          <a:p>
            <a:r>
              <a:rPr lang="en-IN" sz="1400" dirty="0"/>
              <a:t>Reduces code complexity for recursive problems.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Higher memory usage due to recursive function calls. </a:t>
            </a:r>
          </a:p>
          <a:p>
            <a:r>
              <a:rPr lang="en-IN" sz="1400" dirty="0"/>
              <a:t>Can cause </a:t>
            </a:r>
            <a:r>
              <a:rPr lang="en-IN" sz="1400" b="1" dirty="0"/>
              <a:t>stack overflow</a:t>
            </a:r>
            <a:r>
              <a:rPr lang="en-IN" sz="1400" dirty="0"/>
              <a:t> if the base case is missing. </a:t>
            </a:r>
          </a:p>
          <a:p>
            <a:r>
              <a:rPr lang="en-IN" sz="1400" dirty="0"/>
              <a:t>Generally slower than iterative solutions because of function call overhead.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Factorial Calculation </a:t>
            </a:r>
          </a:p>
          <a:p>
            <a:r>
              <a:rPr lang="en-IN" sz="1400" dirty="0"/>
              <a:t>Fibonacci Series </a:t>
            </a:r>
          </a:p>
          <a:p>
            <a:r>
              <a:rPr lang="en-IN" sz="1400" dirty="0"/>
              <a:t>Tree Traversal (Preorder, </a:t>
            </a:r>
            <a:r>
              <a:rPr lang="en-IN" sz="1400" dirty="0" err="1"/>
              <a:t>Inorder</a:t>
            </a:r>
            <a:r>
              <a:rPr lang="en-IN" sz="1400" dirty="0"/>
              <a:t>, </a:t>
            </a:r>
            <a:r>
              <a:rPr lang="en-IN" sz="1400" dirty="0" err="1"/>
              <a:t>Postorder</a:t>
            </a:r>
            <a:r>
              <a:rPr lang="en-IN" sz="1400" dirty="0"/>
              <a:t>) </a:t>
            </a:r>
          </a:p>
          <a:p>
            <a:r>
              <a:rPr lang="en-IN" sz="1400" dirty="0"/>
              <a:t>Binary Search </a:t>
            </a:r>
          </a:p>
          <a:p>
            <a:r>
              <a:rPr lang="en-IN" sz="1400" dirty="0"/>
              <a:t>Merge Sort and Quick Sort </a:t>
            </a:r>
          </a:p>
          <a:p>
            <a:r>
              <a:rPr lang="en-IN" sz="1400" dirty="0"/>
              <a:t>Tower of Hanoi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09179"/>
            <a:ext cx="8229600" cy="1143000"/>
          </a:xfrm>
        </p:spPr>
        <p:txBody>
          <a:bodyPr/>
          <a:lstStyle/>
          <a:p>
            <a:r>
              <a:rPr lang="en-IN" altLang="en-US" dirty="0"/>
              <a:t>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8248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Dynamic Programming (DP)</a:t>
            </a:r>
            <a:r>
              <a:rPr lang="en-IN" sz="1400" dirty="0"/>
              <a:t> is an algorithmic technique used to solve complex problems by breaking them into smaller overlapping subproblems. </a:t>
            </a:r>
          </a:p>
          <a:p>
            <a:r>
              <a:rPr lang="en-IN" sz="1400" dirty="0"/>
              <a:t>It stores the results of solved subproblems to avoid repeated calculations, improving efficiency.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Solves overlapping subproblems. </a:t>
            </a:r>
          </a:p>
          <a:p>
            <a:r>
              <a:rPr lang="en-IN" sz="1400" dirty="0"/>
              <a:t>Uses </a:t>
            </a:r>
            <a:r>
              <a:rPr lang="en-IN" sz="1400" b="1" dirty="0" err="1"/>
              <a:t>Memoization</a:t>
            </a:r>
            <a:r>
              <a:rPr lang="en-IN" sz="1400" b="1" dirty="0"/>
              <a:t> (Top-Down)</a:t>
            </a:r>
            <a:r>
              <a:rPr lang="en-IN" sz="1400" dirty="0"/>
              <a:t> or </a:t>
            </a:r>
            <a:r>
              <a:rPr lang="en-IN" sz="1400" b="1" dirty="0"/>
              <a:t>Tabulation (Bottom-Up)</a:t>
            </a:r>
            <a:r>
              <a:rPr lang="en-IN" sz="1400" dirty="0"/>
              <a:t>. </a:t>
            </a:r>
          </a:p>
          <a:p>
            <a:r>
              <a:rPr lang="en-IN" sz="1400" dirty="0"/>
              <a:t>Optimizes recursive solutions. </a:t>
            </a:r>
          </a:p>
          <a:p>
            <a:r>
              <a:rPr lang="en-IN" sz="1400" dirty="0"/>
              <a:t>Reduces execution time by storing intermediate results.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Improves performance by avoiding repeated computations. </a:t>
            </a:r>
          </a:p>
          <a:p>
            <a:r>
              <a:rPr lang="en-IN" sz="1400" dirty="0"/>
              <a:t>Provides optimal solutions for many optimization problems. </a:t>
            </a:r>
          </a:p>
          <a:p>
            <a:r>
              <a:rPr lang="en-IN" sz="1400" dirty="0"/>
              <a:t>Efficient for large and complex problems. </a:t>
            </a:r>
          </a:p>
          <a:p>
            <a:r>
              <a:rPr lang="en-IN" sz="1400" dirty="0"/>
              <a:t>Reduces time complexity compared to naive recursion.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Requires additional memory to store intermediate results. </a:t>
            </a:r>
          </a:p>
          <a:p>
            <a:r>
              <a:rPr lang="en-IN" sz="1400" dirty="0"/>
              <a:t>Can be difficult to identify DP problems. </a:t>
            </a:r>
          </a:p>
          <a:p>
            <a:r>
              <a:rPr lang="en-IN" sz="1400" dirty="0"/>
              <a:t>Implementation is more complex than simple recursion.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Fibonacci Sequence </a:t>
            </a:r>
          </a:p>
          <a:p>
            <a:r>
              <a:rPr lang="en-IN" sz="1400" dirty="0"/>
              <a:t>0/1 Knapsack Problem </a:t>
            </a:r>
          </a:p>
          <a:p>
            <a:r>
              <a:rPr lang="en-IN" sz="1400" dirty="0"/>
              <a:t>Longest Common Subsequence (LCS) </a:t>
            </a:r>
          </a:p>
          <a:p>
            <a:r>
              <a:rPr lang="en-IN" sz="1400" dirty="0"/>
              <a:t>Matrix Chain Multiplication </a:t>
            </a:r>
          </a:p>
          <a:p>
            <a:r>
              <a:rPr lang="en-IN" sz="1400" dirty="0"/>
              <a:t>Coin Change Problem </a:t>
            </a:r>
          </a:p>
          <a:p>
            <a:r>
              <a:rPr lang="en-IN" sz="1400" dirty="0"/>
              <a:t>Shortest Path Algorithms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01351"/>
            <a:ext cx="8229600" cy="1143000"/>
          </a:xfrm>
        </p:spPr>
        <p:txBody>
          <a:bodyPr/>
          <a:lstStyle/>
          <a:p>
            <a:r>
              <a:rPr lang="en-IN" altLang="en-US" dirty="0"/>
              <a:t>Back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5470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Backtracking</a:t>
            </a:r>
            <a:r>
              <a:rPr lang="en-IN" sz="1400" dirty="0"/>
              <a:t> is an algorithmic technique that solves problems by trying different possible solutions and </a:t>
            </a:r>
            <a:r>
              <a:rPr lang="en-IN" sz="1400" b="1" dirty="0"/>
              <a:t>backtracking</a:t>
            </a:r>
            <a:r>
              <a:rPr lang="en-IN" sz="1400" dirty="0"/>
              <a:t> whenever a solution does not satisfy the required conditions. </a:t>
            </a:r>
          </a:p>
          <a:p>
            <a:r>
              <a:rPr lang="en-IN" sz="1400" dirty="0"/>
              <a:t>It is based on the </a:t>
            </a:r>
            <a:r>
              <a:rPr lang="en-IN" sz="1400" b="1" dirty="0"/>
              <a:t>trial-and-error</a:t>
            </a:r>
            <a:r>
              <a:rPr lang="en-IN" sz="1400" dirty="0"/>
              <a:t> approach.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Explores all possible solutions systematically. </a:t>
            </a:r>
          </a:p>
          <a:p>
            <a:r>
              <a:rPr lang="en-IN" sz="1400" dirty="0"/>
              <a:t>Eliminates invalid solutions early. </a:t>
            </a:r>
          </a:p>
          <a:p>
            <a:r>
              <a:rPr lang="en-IN" sz="1400" dirty="0"/>
              <a:t>Uses recursion to build solutions step by step. </a:t>
            </a:r>
          </a:p>
          <a:p>
            <a:r>
              <a:rPr lang="en-IN" sz="1400" dirty="0"/>
              <a:t>Suitable for constraint satisfaction problems.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Finds all possible solutions. </a:t>
            </a:r>
          </a:p>
          <a:p>
            <a:r>
              <a:rPr lang="en-IN" sz="1400" dirty="0"/>
              <a:t>Efficiently prunes unnecessary paths. </a:t>
            </a:r>
          </a:p>
          <a:p>
            <a:r>
              <a:rPr lang="en-IN" sz="1400" dirty="0"/>
              <a:t>Easy to implement using recursion. </a:t>
            </a:r>
          </a:p>
          <a:p>
            <a:r>
              <a:rPr lang="en-IN" sz="1400" dirty="0"/>
              <a:t>Useful for solving complex combinatorial problems.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Can be slow for large problem sizes. </a:t>
            </a:r>
          </a:p>
          <a:p>
            <a:r>
              <a:rPr lang="en-IN" sz="1400" dirty="0"/>
              <a:t>High time complexity in the worst case. </a:t>
            </a:r>
          </a:p>
          <a:p>
            <a:r>
              <a:rPr lang="en-IN" sz="1400" dirty="0"/>
              <a:t>May require significant memory due to recursion.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N-Queens Problem </a:t>
            </a:r>
          </a:p>
          <a:p>
            <a:r>
              <a:rPr lang="en-IN" sz="1400" dirty="0"/>
              <a:t>Sudoku Solver </a:t>
            </a:r>
          </a:p>
          <a:p>
            <a:r>
              <a:rPr lang="en-IN" sz="1400" dirty="0"/>
              <a:t>Maze Solving </a:t>
            </a:r>
          </a:p>
          <a:p>
            <a:r>
              <a:rPr lang="en-IN" sz="1400" dirty="0"/>
              <a:t>Rat in a Maze </a:t>
            </a:r>
          </a:p>
          <a:p>
            <a:r>
              <a:rPr lang="en-IN" sz="1400" dirty="0"/>
              <a:t>Crossword Puzzle Solver </a:t>
            </a:r>
          </a:p>
          <a:p>
            <a:r>
              <a:rPr lang="en-IN" sz="1400" dirty="0"/>
              <a:t>Graph </a:t>
            </a:r>
            <a:r>
              <a:rPr lang="en-IN" sz="1400" dirty="0" err="1"/>
              <a:t>Coloring</a:t>
            </a:r>
            <a:r>
              <a:rPr lang="en-IN" sz="1400" dirty="0"/>
              <a:t> Problem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01351"/>
            <a:ext cx="8229600" cy="1143000"/>
          </a:xfrm>
        </p:spPr>
        <p:txBody>
          <a:bodyPr/>
          <a:lstStyle/>
          <a:p>
            <a:r>
              <a:rPr lang="en-IN" altLang="en-US" dirty="0"/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90238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b="1" dirty="0"/>
              <a:t>Divide and Conquer</a:t>
            </a:r>
            <a:r>
              <a:rPr lang="en-IN" sz="1400" dirty="0"/>
              <a:t> is an algorithm design technique that solves a complex problem by dividing it into smaller subproblems, solving each subproblem independently, and then combining their solutions to obtain the final result.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Divides a large problem into smaller subproblems. </a:t>
            </a:r>
          </a:p>
          <a:p>
            <a:r>
              <a:rPr lang="en-IN" sz="1400" dirty="0"/>
              <a:t>Solves each subproblem recursively. </a:t>
            </a:r>
          </a:p>
          <a:p>
            <a:r>
              <a:rPr lang="en-IN" sz="1400" dirty="0"/>
              <a:t>Combines the solutions to form the final answer. </a:t>
            </a:r>
          </a:p>
          <a:p>
            <a:r>
              <a:rPr lang="en-IN" sz="1400" dirty="0"/>
              <a:t>Improves efficiency for many algorithms.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Simplifies complex problems. </a:t>
            </a:r>
          </a:p>
          <a:p>
            <a:r>
              <a:rPr lang="en-IN" sz="1400" dirty="0"/>
              <a:t>Faster execution for large datasets. </a:t>
            </a:r>
          </a:p>
          <a:p>
            <a:r>
              <a:rPr lang="en-IN" sz="1400" dirty="0"/>
              <a:t>Supports parallel processing. </a:t>
            </a:r>
          </a:p>
          <a:p>
            <a:r>
              <a:rPr lang="en-IN" sz="1400" dirty="0"/>
              <a:t>Forms the basis of many efficient algorithms.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Recursive calls increase memory usage. </a:t>
            </a:r>
          </a:p>
          <a:p>
            <a:r>
              <a:rPr lang="en-IN" sz="1400" dirty="0"/>
              <a:t>Combining results may add overhead. </a:t>
            </a:r>
          </a:p>
          <a:p>
            <a:r>
              <a:rPr lang="en-IN" sz="1400" dirty="0"/>
              <a:t>Not suitable for every problem.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Merge Sort </a:t>
            </a:r>
          </a:p>
          <a:p>
            <a:r>
              <a:rPr lang="en-IN" sz="1400" dirty="0"/>
              <a:t>Quick Sort </a:t>
            </a:r>
          </a:p>
          <a:p>
            <a:r>
              <a:rPr lang="en-IN" sz="1400" dirty="0"/>
              <a:t>Binary Search </a:t>
            </a:r>
          </a:p>
          <a:p>
            <a:r>
              <a:rPr lang="en-IN" sz="1400" dirty="0"/>
              <a:t>Closest Pair of Points </a:t>
            </a:r>
          </a:p>
          <a:p>
            <a:r>
              <a:rPr lang="en-IN" sz="1400" dirty="0"/>
              <a:t>Strassen's Matrix Multiplication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6195"/>
            <a:ext cx="8229600" cy="1143000"/>
          </a:xfrm>
        </p:spPr>
        <p:txBody>
          <a:bodyPr/>
          <a:lstStyle/>
          <a:p>
            <a:r>
              <a:rPr lang="en-IN" altLang="en-US" dirty="0"/>
              <a:t>Greedy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8326"/>
            <a:ext cx="8229600" cy="4525963"/>
          </a:xfrm>
        </p:spPr>
        <p:txBody>
          <a:bodyPr>
            <a:noAutofit/>
          </a:bodyPr>
          <a:lstStyle/>
          <a:p>
            <a:r>
              <a:rPr lang="en-IN" sz="1400" dirty="0"/>
              <a:t>A </a:t>
            </a:r>
            <a:r>
              <a:rPr lang="en-IN" sz="1400" b="1" dirty="0"/>
              <a:t>Greedy Algorithm</a:t>
            </a:r>
            <a:r>
              <a:rPr lang="en-IN" sz="1400" dirty="0"/>
              <a:t> is an algorithmic approach that makes the </a:t>
            </a:r>
            <a:r>
              <a:rPr lang="en-IN" sz="1400" b="1" dirty="0"/>
              <a:t>best possible choice at each step</a:t>
            </a:r>
            <a:r>
              <a:rPr lang="en-IN" sz="1400" dirty="0"/>
              <a:t> with the goal of finding an optimal solution. </a:t>
            </a:r>
          </a:p>
          <a:p>
            <a:r>
              <a:rPr lang="en-IN" sz="1400" dirty="0"/>
              <a:t>It does not reconsider previous decisions once they are made. </a:t>
            </a:r>
          </a:p>
          <a:p>
            <a:r>
              <a:rPr lang="en-IN" sz="1400" b="1" dirty="0"/>
              <a:t>Features</a:t>
            </a:r>
          </a:p>
          <a:p>
            <a:r>
              <a:rPr lang="en-IN" sz="1400" dirty="0"/>
              <a:t>Makes locally optimal choices. </a:t>
            </a:r>
          </a:p>
          <a:p>
            <a:r>
              <a:rPr lang="en-IN" sz="1400" dirty="0"/>
              <a:t>Simple and efficient approach. </a:t>
            </a:r>
          </a:p>
          <a:p>
            <a:r>
              <a:rPr lang="en-IN" sz="1400" dirty="0"/>
              <a:t>Works well for optimization problems. </a:t>
            </a:r>
          </a:p>
          <a:p>
            <a:r>
              <a:rPr lang="en-IN" sz="1400" dirty="0"/>
              <a:t>Decisions are irreversible. </a:t>
            </a:r>
          </a:p>
          <a:p>
            <a:r>
              <a:rPr lang="en-IN" sz="1400" b="1" dirty="0"/>
              <a:t>Advantages</a:t>
            </a:r>
          </a:p>
          <a:p>
            <a:r>
              <a:rPr lang="en-IN" sz="1400" dirty="0"/>
              <a:t>Easy to understand and implement. </a:t>
            </a:r>
          </a:p>
          <a:p>
            <a:r>
              <a:rPr lang="en-IN" sz="1400" dirty="0"/>
              <a:t>Faster execution compared to many other algorithms. </a:t>
            </a:r>
          </a:p>
          <a:p>
            <a:r>
              <a:rPr lang="en-IN" sz="1400" dirty="0"/>
              <a:t>Efficient for specific optimization problems. </a:t>
            </a:r>
          </a:p>
          <a:p>
            <a:r>
              <a:rPr lang="en-IN" sz="1400" dirty="0"/>
              <a:t>Requires less memory. </a:t>
            </a:r>
          </a:p>
          <a:p>
            <a:r>
              <a:rPr lang="en-IN" sz="1400" b="1" dirty="0"/>
              <a:t>Disadvantages</a:t>
            </a:r>
          </a:p>
          <a:p>
            <a:r>
              <a:rPr lang="en-IN" sz="1400" dirty="0"/>
              <a:t>Does not always produce the optimal solution. </a:t>
            </a:r>
          </a:p>
          <a:p>
            <a:r>
              <a:rPr lang="en-IN" sz="1400" dirty="0"/>
              <a:t>Cannot solve all optimization problems. </a:t>
            </a:r>
          </a:p>
          <a:p>
            <a:r>
              <a:rPr lang="en-IN" sz="1400" dirty="0"/>
              <a:t>Depends on the problem satisfying the greedy-choice property. </a:t>
            </a:r>
          </a:p>
          <a:p>
            <a:r>
              <a:rPr lang="en-IN" sz="1400" b="1" dirty="0"/>
              <a:t>Applications</a:t>
            </a:r>
          </a:p>
          <a:p>
            <a:r>
              <a:rPr lang="en-IN" sz="1400" dirty="0"/>
              <a:t>Dijkstra's Shortest Path Algorithm </a:t>
            </a:r>
          </a:p>
          <a:p>
            <a:r>
              <a:rPr lang="en-IN" sz="1400" dirty="0"/>
              <a:t>Prim's Minimum Spanning Tree </a:t>
            </a:r>
          </a:p>
          <a:p>
            <a:r>
              <a:rPr lang="en-IN" sz="1400" dirty="0"/>
              <a:t>Kruskal's Minimum Spanning Tree </a:t>
            </a:r>
          </a:p>
          <a:p>
            <a:r>
              <a:rPr lang="en-IN" sz="1400" dirty="0"/>
              <a:t>Huffman Coding </a:t>
            </a:r>
          </a:p>
          <a:p>
            <a:r>
              <a:rPr lang="en-IN" sz="1400" dirty="0"/>
              <a:t>Job Scheduling </a:t>
            </a:r>
          </a:p>
          <a:p>
            <a:r>
              <a:rPr lang="en-IN" sz="1400" dirty="0"/>
              <a:t>Fractional Knapsack Problem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1247"/>
            <a:ext cx="8229600" cy="1143000"/>
          </a:xfrm>
        </p:spPr>
        <p:txBody>
          <a:bodyPr/>
          <a:lstStyle/>
          <a:p>
            <a:r>
              <a:rPr lang="en-IN" altLang="en-US" dirty="0"/>
              <a:t>List of Programs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8811"/>
            <a:ext cx="8229600" cy="4525963"/>
          </a:xfrm>
        </p:spPr>
        <p:txBody>
          <a:bodyPr>
            <a:noAutofit/>
          </a:bodyPr>
          <a:lstStyle/>
          <a:p>
            <a:r>
              <a:rPr lang="en-IN" sz="1700" b="1" dirty="0"/>
              <a:t>List of Programs Completed During Training</a:t>
            </a:r>
          </a:p>
          <a:p>
            <a:r>
              <a:rPr lang="en-IN" sz="1700" dirty="0"/>
              <a:t>Hello World Program in C++ </a:t>
            </a:r>
          </a:p>
          <a:p>
            <a:r>
              <a:rPr lang="en-IN" sz="1700" dirty="0"/>
              <a:t>Basic Input/Output Programs </a:t>
            </a:r>
          </a:p>
          <a:p>
            <a:r>
              <a:rPr lang="en-IN" sz="1700" dirty="0"/>
              <a:t>Conditional Statements (if-else, switch) </a:t>
            </a:r>
          </a:p>
          <a:p>
            <a:r>
              <a:rPr lang="en-IN" sz="1700" dirty="0"/>
              <a:t>Looping Statements (for, while, do-while) </a:t>
            </a:r>
          </a:p>
          <a:p>
            <a:r>
              <a:rPr lang="en-IN" sz="1700" dirty="0"/>
              <a:t>Functions and Recursion </a:t>
            </a:r>
          </a:p>
          <a:p>
            <a:r>
              <a:rPr lang="en-IN" sz="1700" dirty="0"/>
              <a:t>Arrays (1D &amp; 2D) </a:t>
            </a:r>
          </a:p>
          <a:p>
            <a:r>
              <a:rPr lang="en-IN" sz="1700" dirty="0"/>
              <a:t>Linked List Operations </a:t>
            </a:r>
          </a:p>
          <a:p>
            <a:r>
              <a:rPr lang="en-IN" sz="1700" dirty="0"/>
              <a:t>Stack Implementation </a:t>
            </a:r>
          </a:p>
          <a:p>
            <a:r>
              <a:rPr lang="en-IN" sz="1700" dirty="0"/>
              <a:t>Queue Implementation </a:t>
            </a:r>
          </a:p>
          <a:p>
            <a:r>
              <a:rPr lang="en-IN" sz="1700" dirty="0"/>
              <a:t>Tree Traversal (Preorder, </a:t>
            </a:r>
            <a:r>
              <a:rPr lang="en-IN" sz="1700" dirty="0" err="1"/>
              <a:t>Inorder</a:t>
            </a:r>
            <a:r>
              <a:rPr lang="en-IN" sz="1700" dirty="0"/>
              <a:t>, </a:t>
            </a:r>
            <a:r>
              <a:rPr lang="en-IN" sz="1700" dirty="0" err="1"/>
              <a:t>Postorder</a:t>
            </a:r>
            <a:r>
              <a:rPr lang="en-IN" sz="1700" dirty="0"/>
              <a:t>) </a:t>
            </a:r>
          </a:p>
          <a:p>
            <a:r>
              <a:rPr lang="en-IN" sz="1700" dirty="0"/>
              <a:t>Graph Representation and Traversal (BFS &amp; DFS) </a:t>
            </a:r>
          </a:p>
          <a:p>
            <a:r>
              <a:rPr lang="en-IN" sz="1700" dirty="0"/>
              <a:t>Searching Algorithms (Linear Search &amp; Binary Search) </a:t>
            </a:r>
          </a:p>
          <a:p>
            <a:r>
              <a:rPr lang="en-IN" sz="1700" dirty="0"/>
              <a:t>Sorting Algorithms (Bubble, Selection, Insertion, Merge Sort, Quick Sort) </a:t>
            </a:r>
          </a:p>
          <a:p>
            <a:r>
              <a:rPr lang="en-IN" sz="1700" dirty="0"/>
              <a:t>Dynamic Programming Problems </a:t>
            </a:r>
          </a:p>
          <a:p>
            <a:r>
              <a:rPr lang="en-IN" sz="1700" dirty="0"/>
              <a:t>Backtracking Problems (N-Queens, Sudoku) </a:t>
            </a:r>
          </a:p>
          <a:p>
            <a:r>
              <a:rPr lang="en-IN" sz="1700" dirty="0"/>
              <a:t>Greedy Algorithm Problems </a:t>
            </a:r>
          </a:p>
          <a:p>
            <a:r>
              <a:rPr lang="en-IN" sz="1700" dirty="0"/>
              <a:t>Divide and Conquer Algorithms </a:t>
            </a:r>
          </a:p>
          <a:p>
            <a:r>
              <a:rPr lang="en-IN" sz="1700" b="1" dirty="0"/>
              <a:t>Mini Project: Movie Recommendation System using C++ and DSA</a:t>
            </a:r>
            <a:r>
              <a:rPr lang="en-IN" sz="1700" dirty="0"/>
              <a:t> </a:t>
            </a:r>
          </a:p>
          <a:p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Course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 solving</a:t>
            </a:r>
          </a:p>
          <a:p>
            <a:pPr>
              <a:defRPr sz="2200"/>
            </a:pPr>
            <a:r>
              <a:t>Complexity analysis</a:t>
            </a:r>
          </a:p>
          <a:p>
            <a:pPr>
              <a:defRPr sz="2200"/>
            </a:pPr>
            <a:r>
              <a:t>Implementation skills</a:t>
            </a:r>
          </a:p>
          <a:p>
            <a:pPr>
              <a:defRPr sz="2200"/>
            </a:pPr>
            <a:r>
              <a:t>Coding practice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dirty="0"/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77503"/>
            <a:ext cx="8229600" cy="4525963"/>
          </a:xfrm>
        </p:spPr>
        <p:txBody>
          <a:bodyPr>
            <a:noAutofit/>
          </a:bodyPr>
          <a:lstStyle/>
          <a:p>
            <a:r>
              <a:rPr lang="en-IN" sz="2400" b="1" dirty="0"/>
              <a:t>Project Title : Movie Recommendation System using C++</a:t>
            </a:r>
            <a:endParaRPr lang="en-IN" sz="2400" dirty="0"/>
          </a:p>
          <a:p>
            <a:r>
              <a:rPr lang="en-IN" sz="1800" b="1" dirty="0"/>
              <a:t>Description</a:t>
            </a:r>
          </a:p>
          <a:p>
            <a:r>
              <a:rPr lang="en-IN" sz="1800" dirty="0"/>
              <a:t>A console-based application developed using </a:t>
            </a:r>
            <a:r>
              <a:rPr lang="en-IN" sz="1800" b="1" dirty="0"/>
              <a:t>C++</a:t>
            </a:r>
            <a:r>
              <a:rPr lang="en-IN" sz="1800" dirty="0"/>
              <a:t> that allows users to manage movies, search by ID, name, or genre, and receive movie recommendations.</a:t>
            </a:r>
          </a:p>
          <a:p>
            <a:r>
              <a:rPr lang="en-IN" sz="1800" b="1" dirty="0"/>
              <a:t>DSA Concepts Used</a:t>
            </a:r>
          </a:p>
          <a:p>
            <a:r>
              <a:rPr lang="en-IN" sz="1800" dirty="0"/>
              <a:t>Vector </a:t>
            </a:r>
          </a:p>
          <a:p>
            <a:r>
              <a:rPr lang="en-IN" sz="1800" dirty="0"/>
              <a:t>Stack </a:t>
            </a:r>
          </a:p>
          <a:p>
            <a:r>
              <a:rPr lang="en-IN" sz="1800" dirty="0"/>
              <a:t>Queue </a:t>
            </a:r>
          </a:p>
          <a:p>
            <a:r>
              <a:rPr lang="en-IN" sz="1800" dirty="0"/>
              <a:t>Hash Map </a:t>
            </a:r>
          </a:p>
          <a:p>
            <a:r>
              <a:rPr lang="en-IN" sz="1800" dirty="0"/>
              <a:t>Graph </a:t>
            </a:r>
          </a:p>
          <a:p>
            <a:r>
              <a:rPr lang="en-IN" sz="1800" dirty="0"/>
              <a:t>Binary Search </a:t>
            </a:r>
          </a:p>
          <a:p>
            <a:r>
              <a:rPr lang="en-IN" sz="1800" dirty="0"/>
              <a:t>Merge Sort </a:t>
            </a:r>
          </a:p>
          <a:p>
            <a:r>
              <a:rPr lang="en-IN" sz="1800" b="1" dirty="0"/>
              <a:t>Key Features</a:t>
            </a:r>
          </a:p>
          <a:p>
            <a:r>
              <a:rPr lang="en-IN" sz="1800" dirty="0"/>
              <a:t>Display &amp; Search Movies </a:t>
            </a:r>
          </a:p>
          <a:p>
            <a:r>
              <a:rPr lang="en-IN" sz="1800" dirty="0"/>
              <a:t>Add, Update &amp; Delete Movies </a:t>
            </a:r>
          </a:p>
          <a:p>
            <a:r>
              <a:rPr lang="en-IN" sz="1800" dirty="0"/>
              <a:t>Watch History </a:t>
            </a:r>
          </a:p>
          <a:p>
            <a:r>
              <a:rPr lang="en-IN" sz="1800" dirty="0"/>
              <a:t>Recently Watched </a:t>
            </a:r>
          </a:p>
          <a:p>
            <a:r>
              <a:rPr lang="en-IN" sz="1800" dirty="0"/>
              <a:t>Movie Recommendations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Technologies</a:t>
            </a:r>
          </a:p>
          <a:p>
            <a:r>
              <a:rPr lang="en-IN" sz="2400" dirty="0"/>
              <a:t>C++ </a:t>
            </a:r>
          </a:p>
          <a:p>
            <a:r>
              <a:rPr lang="en-IN" sz="2400" dirty="0"/>
              <a:t>STL </a:t>
            </a:r>
          </a:p>
          <a:p>
            <a:r>
              <a:rPr lang="en-IN" sz="2400" dirty="0"/>
              <a:t>VS Code </a:t>
            </a:r>
          </a:p>
          <a:p>
            <a:r>
              <a:rPr lang="en-IN" sz="2400" dirty="0"/>
              <a:t>GCC Compiler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Start the program. </a:t>
            </a:r>
          </a:p>
          <a:p>
            <a:r>
              <a:rPr lang="en-IN" dirty="0"/>
              <a:t>Load movie data into the system.</a:t>
            </a:r>
          </a:p>
          <a:p>
            <a:r>
              <a:rPr lang="en-IN" dirty="0"/>
              <a:t> Display the main menu. </a:t>
            </a:r>
          </a:p>
          <a:p>
            <a:r>
              <a:rPr lang="en-IN" dirty="0"/>
              <a:t>Accept the user's choice. </a:t>
            </a:r>
          </a:p>
          <a:p>
            <a:r>
              <a:rPr lang="en-IN" dirty="0"/>
              <a:t>Perform the selected operation: Display Movies </a:t>
            </a:r>
          </a:p>
          <a:p>
            <a:r>
              <a:rPr lang="en-IN" dirty="0"/>
              <a:t>Search Movie </a:t>
            </a:r>
          </a:p>
          <a:p>
            <a:r>
              <a:rPr lang="en-IN" dirty="0"/>
              <a:t>Add/Update/Delete Movie </a:t>
            </a:r>
          </a:p>
          <a:p>
            <a:r>
              <a:rPr lang="en-IN" dirty="0"/>
              <a:t>Watch Movie </a:t>
            </a:r>
          </a:p>
          <a:p>
            <a:r>
              <a:rPr lang="en-IN" dirty="0"/>
              <a:t>Show Recommendations </a:t>
            </a:r>
          </a:p>
          <a:p>
            <a:r>
              <a:rPr lang="en-IN" dirty="0"/>
              <a:t>Display the result. Repeat until the user chooses </a:t>
            </a:r>
            <a:r>
              <a:rPr lang="en-IN" b="1" dirty="0"/>
              <a:t>Exit</a:t>
            </a:r>
            <a:r>
              <a:rPr lang="en-IN" dirty="0"/>
              <a:t>. End the program.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3773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dirty="0"/>
              <a:t>Project Code</a:t>
            </a:r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D5757F9F-633F-7A50-12BE-F67F75056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033" y="713078"/>
            <a:ext cx="4437228" cy="27715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A2C5A09-63CF-40EB-C45F-CFF7F901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802" y="3640942"/>
            <a:ext cx="4747677" cy="296544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7721E6-B2C4-E2C9-ECDE-40751B708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0438" y="3357742"/>
            <a:ext cx="5164224" cy="3225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E17F0-7F3D-2123-BA0A-246FE7E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73" y="274637"/>
            <a:ext cx="4678724" cy="292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96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2161E8-8DE6-A216-930C-D939DB50A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5" y="573921"/>
            <a:ext cx="4174915" cy="2607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A0A8F4-3664-787E-3A0B-2D1098D0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112" y="573921"/>
            <a:ext cx="4176226" cy="2607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08E63F-DB01-032D-93C1-41DEE4491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4" y="3573894"/>
            <a:ext cx="4176226" cy="2607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0362E4-2513-9A70-BF4F-93A6F071F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201" y="3573894"/>
            <a:ext cx="4193743" cy="26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69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879EE8-336E-DBAD-8E50-5B6866C86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647" y="3563826"/>
            <a:ext cx="4284156" cy="2675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6FF7A6-0FF6-870A-C04A-8A885D152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5" y="3563826"/>
            <a:ext cx="4170641" cy="2605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363D5E-266A-AA7D-1E79-78EB799B3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162" y="227701"/>
            <a:ext cx="4170641" cy="2605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460B53-91CD-F37D-0983-88A24815B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35" y="203261"/>
            <a:ext cx="4170641" cy="260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96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-209181"/>
            <a:ext cx="8229600" cy="1143000"/>
          </a:xfrm>
        </p:spPr>
        <p:txBody>
          <a:bodyPr/>
          <a:lstStyle/>
          <a:p>
            <a:pPr>
              <a:defRPr sz="2800"/>
            </a:pPr>
            <a:r>
              <a:rPr dirty="0"/>
              <a:t>Project 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E05BA8-EAD2-4631-BC31-8A972BE40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986" y="3532487"/>
            <a:ext cx="8229600" cy="2904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8CFF77-41A7-7537-7E70-CF5103864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86" y="563672"/>
            <a:ext cx="8229599" cy="276184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r>
              <a:rPr lang="en-IN" sz="2400" dirty="0"/>
              <a:t>Successfully developed a </a:t>
            </a:r>
            <a:r>
              <a:rPr lang="en-IN" sz="2400" b="1" dirty="0"/>
              <a:t>Movie Recommendation System</a:t>
            </a:r>
            <a:r>
              <a:rPr lang="en-IN" sz="2400" dirty="0"/>
              <a:t> using C++. </a:t>
            </a:r>
          </a:p>
          <a:p>
            <a:r>
              <a:rPr lang="en-IN" sz="2400" dirty="0"/>
              <a:t>Applied </a:t>
            </a:r>
            <a:r>
              <a:rPr lang="en-IN" sz="2400" b="1" dirty="0"/>
              <a:t>Data Structures and Algorithms</a:t>
            </a:r>
            <a:r>
              <a:rPr lang="en-IN" sz="2400" dirty="0"/>
              <a:t> to solve a real-world problem. </a:t>
            </a:r>
          </a:p>
          <a:p>
            <a:r>
              <a:rPr lang="en-IN" sz="2400" dirty="0"/>
              <a:t>Implemented </a:t>
            </a:r>
            <a:r>
              <a:rPr lang="en-IN" sz="2400" b="1" dirty="0"/>
              <a:t>Vector, Stack, Queue, Hash Map, and Graph</a:t>
            </a:r>
            <a:r>
              <a:rPr lang="en-IN" sz="2400" dirty="0"/>
              <a:t> data structures. </a:t>
            </a:r>
          </a:p>
          <a:p>
            <a:r>
              <a:rPr lang="en-IN" sz="2400" dirty="0"/>
              <a:t>Used </a:t>
            </a:r>
            <a:r>
              <a:rPr lang="en-IN" sz="2400" b="1" dirty="0"/>
              <a:t>Binary Search</a:t>
            </a:r>
            <a:r>
              <a:rPr lang="en-IN" sz="2400" dirty="0"/>
              <a:t> and </a:t>
            </a:r>
            <a:r>
              <a:rPr lang="en-IN" sz="2400" b="1" dirty="0"/>
              <a:t>Merge Sort</a:t>
            </a:r>
            <a:r>
              <a:rPr lang="en-IN" sz="2400" dirty="0"/>
              <a:t> to improve search and sorting efficiency. </a:t>
            </a:r>
          </a:p>
          <a:p>
            <a:r>
              <a:rPr lang="en-IN" sz="2400" dirty="0"/>
              <a:t>Enhanced C++ programming, logical thinking, and problem-solving skills. </a:t>
            </a:r>
          </a:p>
          <a:p>
            <a:r>
              <a:rPr lang="en-IN" sz="2400" dirty="0"/>
              <a:t>Gained practical experience in </a:t>
            </a:r>
            <a:r>
              <a:rPr lang="en-IN" sz="2400" b="1" dirty="0"/>
              <a:t>file handling</a:t>
            </a:r>
            <a:r>
              <a:rPr lang="en-IN" sz="2400" dirty="0"/>
              <a:t> and </a:t>
            </a:r>
            <a:r>
              <a:rPr lang="en-IN" sz="2400" b="1" dirty="0"/>
              <a:t>menu-driven application development</a:t>
            </a:r>
            <a:r>
              <a:rPr lang="en-IN" sz="2400" dirty="0"/>
              <a:t>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The </a:t>
            </a:r>
            <a:r>
              <a:rPr lang="en-IN" b="1" dirty="0"/>
              <a:t>Movie Recommendation System</a:t>
            </a:r>
            <a:r>
              <a:rPr lang="en-IN" dirty="0"/>
              <a:t> was successfully developed using </a:t>
            </a:r>
            <a:r>
              <a:rPr lang="en-IN" b="1" dirty="0"/>
              <a:t>C++</a:t>
            </a:r>
            <a:r>
              <a:rPr lang="en-IN" dirty="0"/>
              <a:t> and </a:t>
            </a:r>
            <a:r>
              <a:rPr lang="en-IN" b="1" dirty="0"/>
              <a:t>Data Structures &amp; Algorithms</a:t>
            </a:r>
            <a:r>
              <a:rPr lang="en-IN" dirty="0"/>
              <a:t>. </a:t>
            </a:r>
          </a:p>
          <a:p>
            <a:r>
              <a:rPr lang="en-IN" dirty="0"/>
              <a:t>The project demonstrates the practical use of </a:t>
            </a:r>
            <a:r>
              <a:rPr lang="en-IN" b="1" dirty="0"/>
              <a:t>Vector, Stack, Queue, Hash Map, Graph, Binary Search, and Merge Sort</a:t>
            </a:r>
            <a:r>
              <a:rPr lang="en-IN" dirty="0"/>
              <a:t>. </a:t>
            </a:r>
          </a:p>
          <a:p>
            <a:r>
              <a:rPr lang="en-IN" dirty="0"/>
              <a:t>It provides an efficient and user-friendly way to manage, search, and recommend movies. </a:t>
            </a:r>
          </a:p>
          <a:p>
            <a:r>
              <a:rPr lang="en-IN" dirty="0"/>
              <a:t>This project enhanced my </a:t>
            </a:r>
            <a:r>
              <a:rPr lang="en-IN" b="1" dirty="0"/>
              <a:t>C++ programming, DSA knowledge, and problem-solving skills</a:t>
            </a:r>
            <a:r>
              <a:rPr lang="en-IN" dirty="0"/>
              <a:t>, preparing me to build more advanced software applications in the future.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2341</Words>
  <Application>Microsoft Office PowerPoint</Application>
  <PresentationFormat>On-screen Show (4:3)</PresentationFormat>
  <Paragraphs>432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Summer Training/Internship Presentation</vt:lpstr>
      <vt:lpstr>Course Content</vt:lpstr>
      <vt:lpstr>C++ Basics</vt:lpstr>
      <vt:lpstr>Arrays</vt:lpstr>
      <vt:lpstr>Linked Lists</vt:lpstr>
      <vt:lpstr>Stacks</vt:lpstr>
      <vt:lpstr>Queues</vt:lpstr>
      <vt:lpstr>Trees</vt:lpstr>
      <vt:lpstr>Graphs</vt:lpstr>
      <vt:lpstr>Sorting</vt:lpstr>
      <vt:lpstr>Searching</vt:lpstr>
      <vt:lpstr>Recursion</vt:lpstr>
      <vt:lpstr>Dynamic Programming</vt:lpstr>
      <vt:lpstr>Back Tracking</vt:lpstr>
      <vt:lpstr>Divide and Conquer</vt:lpstr>
      <vt:lpstr>Greedy</vt:lpstr>
      <vt:lpstr>List of Programs done</vt:lpstr>
      <vt:lpstr>Course Outcomes</vt:lpstr>
      <vt:lpstr>Project Details</vt:lpstr>
      <vt:lpstr>Technology Used</vt:lpstr>
      <vt:lpstr>Algorithm</vt:lpstr>
      <vt:lpstr>Project Code</vt:lpstr>
      <vt:lpstr>PowerPoint Presentation</vt:lpstr>
      <vt:lpstr>PowerPoint Presentation</vt:lpstr>
      <vt:lpstr>PowerPoint Presentation</vt:lpstr>
      <vt:lpstr>Project Screenshots</vt:lpstr>
      <vt:lpstr>Project Outcomes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Nandu Naidu</cp:lastModifiedBy>
  <cp:revision>5</cp:revision>
  <dcterms:created xsi:type="dcterms:W3CDTF">2013-01-27T09:14:00Z</dcterms:created>
  <dcterms:modified xsi:type="dcterms:W3CDTF">2026-07-12T03:29:20Z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433ACFE6812349F8BEFB9668D6F97785_12</vt:lpwstr>
  </property>
  <property fmtid="{D5CDD505-2E9C-101B-9397-08002B2CF9AE}" pid="3" name="KSOProductBuildVer">
    <vt:lpwstr>1033-12.2.0.22549</vt:lpwstr>
  </property>
</Properties>
</file>